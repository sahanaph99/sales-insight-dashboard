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43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433"/>
                </a:solidFill>
                <a:latin typeface="Arial"/>
              </a:rPr>
              <a:t>Sum of Payment Amount by Zone (₹M)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Payment Amount (M)</c:v>
                </c:pt>
              </c:strCache>
            </c:strRef>
          </c:tx>
          <c:spPr>
            <a:solidFill>
              <a:srgbClr val="7FA8C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A8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A8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East</c:v>
                  </c:pt>
                  <c:pt idx="1">
                    <c:v>North</c:v>
                  </c:pt>
                  <c:pt idx="2">
                    <c:v>South</c:v>
                  </c:pt>
                  <c:pt idx="3">
                    <c:v>West</c:v>
                  </c:pt>
                  <c:pt idx="4">
                    <c:v>HO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</c:v>
                </c:pt>
                <c:pt idx="1">
                  <c:v>1.8</c:v>
                </c:pt>
                <c:pt idx="2">
                  <c:v>3.5</c:v>
                </c:pt>
                <c:pt idx="3">
                  <c:v>7.9</c:v>
                </c:pt>
                <c:pt idx="4">
                  <c:v>14.6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E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21295C"/>
              </a:solidFill>
              <a:effectLst/>
            </c:spPr>
          </c:dPt>
          <c:dPt>
            <c:idx val="2"/>
            <c:bubble3D val="0"/>
            <c:spPr>
              <a:solidFill>
                <a:srgbClr val="F2A444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Phone Pay</c:v>
                </c:pt>
                <c:pt idx="1">
                  <c:v>Card</c:v>
                </c:pt>
                <c:pt idx="2">
                  <c:v>Cash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51</c:v>
                </c:pt>
                <c:pt idx="1">
                  <c:v>33.8</c:v>
                </c:pt>
                <c:pt idx="2">
                  <c:v>15.19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4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INSIGHT DASHBOARD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Revenue, Zones &amp; Payment Behavior Since 2022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4480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•  DAX  •  Data Modeling   |   122.86K Transactions  •  ₹29M Revenue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784080" y="731520"/>
            <a:ext cx="1828800" cy="1828800"/>
          </a:xfrm>
          <a:prstGeom prst="ellipse">
            <a:avLst/>
          </a:prstGeom>
          <a:solidFill>
            <a:srgbClr val="043A54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297680"/>
            <a:ext cx="1188720" cy="1188720"/>
          </a:xfrm>
          <a:prstGeom prst="ellipse">
            <a:avLst/>
          </a:prstGeom>
          <a:solidFill>
            <a:srgbClr val="043A5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needed a single, interactive view to monitor revenue performance, zone-level trends, and payment behavior across 14 billing locations and 89 sales representatives.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0F7FB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788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revenue trending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vs target?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25603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0F7FB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788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35204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zones and locations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over/under-performing?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25603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0F7FB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2788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75320" y="35204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customers prefer to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pay, and who sells the most?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Insight Dashboard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Locations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29000" y="16459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122.86K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52044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Transactions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Payment Amount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006840" y="16459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5B4FB0"/>
          </a:solidFill>
          <a:ln/>
        </p:spPr>
      </p:sp>
      <p:sp>
        <p:nvSpPr>
          <p:cNvPr id="13" name="Text 11"/>
          <p:cNvSpPr/>
          <p:nvPr/>
        </p:nvSpPr>
        <p:spPr>
          <a:xfrm>
            <a:off x="9098280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09828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043A5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319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₹9,611,572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14400" y="4709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vs ₹5,000,000 goal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3931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+92.23%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498080" y="4709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Insight Dashboard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 — HO Zone Leads by a Wide Margin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400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223760" y="1371600"/>
            <a:ext cx="4297680" cy="4297680"/>
          </a:xfrm>
          <a:prstGeom prst="roundRect">
            <a:avLst>
              <a:gd name="adj" fmla="val 1702"/>
            </a:avLst>
          </a:prstGeom>
          <a:solidFill>
            <a:srgbClr val="F0F7FB"/>
          </a:solidFill>
          <a:ln/>
        </p:spPr>
      </p:sp>
      <p:sp>
        <p:nvSpPr>
          <p:cNvPr id="5" name="Text 2"/>
          <p:cNvSpPr/>
          <p:nvPr/>
        </p:nvSpPr>
        <p:spPr>
          <a:xfrm>
            <a:off x="7498080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13x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498080" y="25146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HO (₹14.6M) and East (₹1.1M) — the highest and lowest performing zones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98080" y="3703320"/>
            <a:ext cx="3566160" cy="0"/>
          </a:xfrm>
          <a:prstGeom prst="line">
            <a:avLst/>
          </a:prstGeom>
          <a:noFill/>
          <a:ln w="12700">
            <a:solidFill>
              <a:srgbClr val="C7D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38862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alone accounts for nearly half of total zone revenue, more than West and South combined.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Insight Dashboard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— Phone Pay Dominates Transactions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46304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4630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0F7FB"/>
          </a:solidFill>
          <a:ln/>
        </p:spPr>
      </p:sp>
      <p:sp>
        <p:nvSpPr>
          <p:cNvPr id="5" name="Text 2"/>
          <p:cNvSpPr/>
          <p:nvPr/>
        </p:nvSpPr>
        <p:spPr>
          <a:xfrm>
            <a:off x="6492240" y="1691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9224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payment volume comes through Phone Pay — the clear preferred channel among customers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92240" y="3657600"/>
            <a:ext cx="4572000" cy="0"/>
          </a:xfrm>
          <a:prstGeom prst="line">
            <a:avLst/>
          </a:prstGeom>
          <a:noFill/>
          <a:ln w="12700">
            <a:solidFill>
              <a:srgbClr val="C7D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38404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follows at 33.8% and Cash at 15.19% — together, digital payment methods (Phone Pay + Card) make up nearly 85% of all transactions.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Insight Dashboard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report with year and zone filtering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572000"/>
          </a:xfrm>
          <a:prstGeom prst="roundRect">
            <a:avLst>
              <a:gd name="adj" fmla="val 1000"/>
            </a:avLst>
          </a:prstGeom>
          <a:solidFill>
            <a:srgbClr val="043A54"/>
          </a:solidFill>
          <a:ln w="19050">
            <a:solidFill>
              <a:srgbClr val="1C4F6E"/>
            </a:solidFill>
            <a:prstDash val="solid"/>
          </a:ln>
        </p:spPr>
      </p:sp>
      <p:pic>
        <p:nvPicPr>
          <p:cNvPr id="5" name="Image 0" descr="/home/claude/dashboard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1094" y="1783080"/>
            <a:ext cx="7579332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Insight Dashboard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Process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65960" y="18288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96596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Sales Data, Location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Customer Data, and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8288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8056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3291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measures for payment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totals, targets, and year-over-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comparisons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72600" y="1828800"/>
            <a:ext cx="777240" cy="777240"/>
          </a:xfrm>
          <a:prstGeom prst="ellipse">
            <a:avLst/>
          </a:prstGeom>
          <a:solidFill>
            <a:srgbClr val="5B4FB0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18388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83880" y="3291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charts, and zone/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filters for an interactive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view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96512" y="26517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FA8C9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799832" y="26517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FA8C9"/>
                </a:solidFill>
              </a:rPr>
              <a:t>→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Insight Dashboard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43A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34840" y="19202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43A54"/>
          </a:solidFill>
          <a:ln/>
        </p:spPr>
      </p:sp>
      <p:sp>
        <p:nvSpPr>
          <p:cNvPr id="6" name="Text 4"/>
          <p:cNvSpPr/>
          <p:nvPr/>
        </p:nvSpPr>
        <p:spPr>
          <a:xfrm>
            <a:off x="443484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0" y="19202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43A5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43A5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34840" y="32918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43A54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3291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32918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43A54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3291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Storytelling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github.com/yourusername/Sales-Insight-Dashboard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Insight Dashboard</dc:title>
  <dc:subject>PptxGenJS Presentation</dc:subject>
  <dc:creator>Sales Insight Dashboard Project</dc:creator>
  <cp:lastModifiedBy>Sales Insight Dashboard Project</cp:lastModifiedBy>
  <cp:revision>1</cp:revision>
  <dcterms:created xsi:type="dcterms:W3CDTF">2026-06-19T02:55:06Z</dcterms:created>
  <dcterms:modified xsi:type="dcterms:W3CDTF">2026-06-19T02:55:06Z</dcterms:modified>
</cp:coreProperties>
</file>